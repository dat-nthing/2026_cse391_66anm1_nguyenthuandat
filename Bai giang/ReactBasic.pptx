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3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ieu Ta Chi" userId="138bfb5ef5e7e044" providerId="LiveId" clId="{6822D911-0FC7-4041-B743-7CBC92589699}"/>
    <pc:docChg chg="undo custSel modSld">
      <pc:chgData name="Hieu Ta Chi" userId="138bfb5ef5e7e044" providerId="LiveId" clId="{6822D911-0FC7-4041-B743-7CBC92589699}" dt="2026-03-13T06:19:48.206" v="19" actId="20577"/>
      <pc:docMkLst>
        <pc:docMk/>
      </pc:docMkLst>
      <pc:sldChg chg="modSp mod">
        <pc:chgData name="Hieu Ta Chi" userId="138bfb5ef5e7e044" providerId="LiveId" clId="{6822D911-0FC7-4041-B743-7CBC92589699}" dt="2026-03-13T06:19:48.206" v="19" actId="20577"/>
        <pc:sldMkLst>
          <pc:docMk/>
          <pc:sldMk cId="0" sldId="256"/>
        </pc:sldMkLst>
        <pc:spChg chg="mod">
          <ac:chgData name="Hieu Ta Chi" userId="138bfb5ef5e7e044" providerId="LiveId" clId="{6822D911-0FC7-4041-B743-7CBC92589699}" dt="2026-03-13T06:19:39.807" v="1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Hieu Ta Chi" userId="138bfb5ef5e7e044" providerId="LiveId" clId="{6822D911-0FC7-4041-B743-7CBC92589699}" dt="2026-03-13T06:19:43.436" v="3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Hieu Ta Chi" userId="138bfb5ef5e7e044" providerId="LiveId" clId="{6822D911-0FC7-4041-B743-7CBC92589699}" dt="2026-03-13T06:19:48.206" v="19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13.03.2026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90" r="-39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66675" y="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React Framework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104775" y="571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Từ</a:t>
            </a:r>
            <a:r>
              <a:rPr lang="en-US" sz="24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SPA </a:t>
            </a:r>
            <a:r>
              <a:rPr lang="en-US" sz="24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đến</a:t>
            </a:r>
            <a:r>
              <a:rPr lang="en-US" sz="24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Hooks </a:t>
            </a:r>
            <a:r>
              <a:rPr lang="en-US" sz="24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nền</a:t>
            </a:r>
            <a:r>
              <a:rPr lang="en-US" sz="2400" b="0" i="0" u="none" strike="noStrike" dirty="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00" b="0" i="0" u="none" strike="noStrike" dirty="0" err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tảng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0" y="6096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HieuTC</a:t>
            </a:r>
            <a:r>
              <a:rPr lang="en-US" sz="1600" b="0" i="0" u="none" strike="noStrike" dirty="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- TLU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Mục tiêu học tập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1. Kiến trúc SPA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Hiểu cơ chế hoạt động của ứng dụng đơn trang và Virtual DOM.</a:t>
            </a:r>
          </a:p>
        </p:txBody>
      </p:sp>
      <p:sp>
        <p:nvSpPr>
          <p:cNvPr id="4" name="AutoShape 4"/>
          <p:cNvSpPr/>
          <p:nvPr/>
        </p:nvSpPr>
        <p:spPr>
          <a:xfrm>
            <a:off x="4381500" y="1651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2. JSX &amp; Components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Nắm vững cú pháp JSX và tư duy xây dựng UI theo Component.</a:t>
            </a:r>
          </a:p>
        </p:txBody>
      </p:sp>
      <p:sp>
        <p:nvSpPr>
          <p:cNvPr id="5" name="AutoShape 5"/>
          <p:cNvSpPr/>
          <p:nvPr/>
        </p:nvSpPr>
        <p:spPr>
          <a:xfrm>
            <a:off x="8255000" y="1651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3. Props &amp; State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Quản lý dữ liệu luân chuyển và trạng thái nội bộ ứng dụng.</a:t>
            </a:r>
          </a:p>
        </p:txBody>
      </p:sp>
      <p:sp>
        <p:nvSpPr>
          <p:cNvPr id="6" name="AutoShape 6"/>
          <p:cNvSpPr/>
          <p:nvPr/>
        </p:nvSpPr>
        <p:spPr>
          <a:xfrm>
            <a:off x="508000" y="3937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4. Hooks nền tảng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Làm chủ useState và useEffect để xử lý logic component.</a:t>
            </a:r>
          </a:p>
        </p:txBody>
      </p:sp>
      <p:sp>
        <p:nvSpPr>
          <p:cNvPr id="7" name="AutoShape 7"/>
          <p:cNvSpPr/>
          <p:nvPr/>
        </p:nvSpPr>
        <p:spPr>
          <a:xfrm>
            <a:off x="4381500" y="3937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5. Lists &amp; Forms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Render danh sách và xử lý form dữ liệu an toàn, hiệu quả.</a:t>
            </a:r>
          </a:p>
        </p:txBody>
      </p:sp>
      <p:sp>
        <p:nvSpPr>
          <p:cNvPr id="8" name="AutoShape 8"/>
          <p:cNvSpPr/>
          <p:nvPr/>
        </p:nvSpPr>
        <p:spPr>
          <a:xfrm>
            <a:off x="8255000" y="3937000"/>
            <a:ext cx="3429000" cy="1905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6. Routing &amp; Vite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Cấu trúc dự án chuyên nghiệp và điều hướng phía client.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Nội dung chính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558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A. SPA &amp; Virtual DOM</a:t>
            </a:r>
            <a:endParaRPr lang="en-US" sz="1100"/>
          </a:p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B. Component Mindset &amp; JSX</a:t>
            </a:r>
          </a:p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C. Props &amp; State</a:t>
            </a:r>
          </a:p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D. Hooks: useState &amp; useEffect</a:t>
            </a:r>
          </a:p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E. Lists &amp; Forms</a:t>
            </a:r>
          </a:p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F. Routing &amp; Workflow với Vite</a:t>
            </a:r>
          </a:p>
          <a:p>
            <a:pPr marL="254000" indent="-2540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G. Mini Quiz &amp; Tổng kết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0" y="1905000"/>
            <a:ext cx="38100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508000" y="762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MPA: Cách cũ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1778000"/>
            <a:ext cx="5080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Cơ chế Multiple Page App:</a:t>
            </a:r>
            <a:endParaRPr lang="en-US" sz="1100"/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Mỗi lần click link -&gt; Request HTML mới.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Server render toàn bộ trang web.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Trình duyệt reload -&gt; Màn hình trắng xóa (Flash).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Hạn chế: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Chậm, tốn băng thông.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Trải nghiệm người dùng bị ngắt quãng.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446442" y="1524000"/>
            <a:ext cx="6826250" cy="3810000"/>
          </a:xfrm>
          <a:prstGeom prst="roundRect">
            <a:avLst>
              <a:gd name="adj" fmla="val 4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0" y="0"/>
            <a:ext cx="6096000" cy="6858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2790" r="12790"/>
          <a:stretch>
            <a:fillRect/>
          </a:stretch>
        </p:blipFill>
        <p:spPr>
          <a:xfrm>
            <a:off x="508000" y="1524000"/>
            <a:ext cx="5080000" cy="3810000"/>
          </a:xfrm>
          <a:prstGeom prst="roundRect">
            <a:avLst>
              <a:gd name="adj" fmla="val 4000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254000" dist="1270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6604000" y="762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SPA: Cách hiện đại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604000" y="1778000"/>
            <a:ext cx="5080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Cơ chế Single Page App:</a:t>
            </a:r>
            <a:endParaRPr lang="en-US" sz="1100"/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Tải 1 file index.html duy nhất.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JS quản lý việc đổi nội dung bên trong.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Không reload trang -&gt; Không chớp tắt.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Ưu điểm: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Tốc độ phản hồi cực nhanh.</a:t>
            </a:r>
          </a:p>
          <a:p>
            <a:pPr marL="228600" indent="-228600" algn="l">
              <a:lnSpc>
                <a:spcPct val="116666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Trải nghiệm mượt như ứng dụng Desktop/Mobile.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Luồng hoạt động của SPA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228600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1. User click link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85925">
            <a:off x="2793444" y="3041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" name="AutoShape 5"/>
          <p:cNvSpPr/>
          <p:nvPr/>
        </p:nvSpPr>
        <p:spPr>
          <a:xfrm>
            <a:off x="3302000" y="228600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2. JS intercept click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85925">
            <a:off x="5587444" y="3041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7" name="AutoShape 7"/>
          <p:cNvSpPr/>
          <p:nvPr/>
        </p:nvSpPr>
        <p:spPr>
          <a:xfrm>
            <a:off x="6096000" y="2286000"/>
            <a:ext cx="2286000" cy="1524000"/>
          </a:xfrm>
          <a:prstGeom prst="roundRect">
            <a:avLst>
              <a:gd name="adj" fmla="val 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3. Fetch data (API)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5925">
            <a:off x="8381444" y="30416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" name="AutoShape 9"/>
          <p:cNvSpPr/>
          <p:nvPr/>
        </p:nvSpPr>
        <p:spPr>
          <a:xfrm>
            <a:off x="8890000" y="2286000"/>
            <a:ext cx="2794000" cy="1524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4. Update UI phần đổi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(Không reload trang)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Real DOM: Bài toán hiệu năng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8000" y="1524000"/>
            <a:ext cx="1016000" cy="1016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1778000" y="1524000"/>
            <a:ext cx="9906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Vấn đề của việc cập nhật DOM trực tiếp:</a:t>
            </a:r>
            <a:endParaRPr lang="en-US" sz="1100"/>
          </a:p>
          <a:p>
            <a:pPr marL="254000" indent="-254000" algn="l">
              <a:lnSpc>
                <a:spcPct val="125000"/>
              </a:lnSpc>
              <a:buClr>
                <a:srgbClr val="EF4444"/>
              </a:buClr>
              <a:buChar char="•"/>
            </a:pPr>
            <a:r>
              <a:rPr lang="en-US" sz="2000" b="0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Chậm: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Thao tác với Real DOM là cực kỳ tốn kém so với JS.</a:t>
            </a:r>
          </a:p>
          <a:p>
            <a:pPr marL="254000" indent="-254000" algn="l">
              <a:lnSpc>
                <a:spcPct val="125000"/>
              </a:lnSpc>
              <a:buClr>
                <a:srgbClr val="EF4444"/>
              </a:buClr>
              <a:buChar char="•"/>
            </a:pPr>
            <a:r>
              <a:rPr lang="en-US" sz="2000" b="0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Reflow &amp; Repaint: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Mỗi thay đổi nhỏ có thể khiến trình duyệt phải tính toán lại toàn bộ layout.</a:t>
            </a:r>
          </a:p>
          <a:p>
            <a:pPr marL="254000" indent="-254000" algn="l">
              <a:lnSpc>
                <a:spcPct val="125000"/>
              </a:lnSpc>
              <a:buClr>
                <a:srgbClr val="EF4444"/>
              </a:buClr>
              <a:buChar char="•"/>
            </a:pPr>
            <a:r>
              <a:rPr lang="en-US" sz="2000" b="0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Khó tối ưu: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Rất khó để quản lý việc cập nhật tối thiểu nếu làm thủ công.</a:t>
            </a:r>
          </a:p>
          <a:p>
            <a:pPr indent="0" algn="l">
              <a:lnSpc>
                <a:spcPct val="125000"/>
              </a:lnSpc>
            </a:pPr>
            <a:r>
              <a:rPr lang="en-US" sz="20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"Giống như việc sửa một viên gạch nhưng phải xây lại cả bức tường."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Virtual DOM: Giải pháp từ React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397000"/>
            <a:ext cx="5588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Memory First: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Tạo một bản sao "ảo" của DOM trong bộ nhớ.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Diffing: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Khi state đổi, React so sánh Virtual DOM cũ và mới.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Patching: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Chỉ cập nhật những phần </a:t>
            </a: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thực sự thay đổi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lên Real DOM.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7604" b="27604"/>
          <a:stretch>
            <a:fillRect/>
          </a:stretch>
        </p:blipFill>
        <p:spPr>
          <a:xfrm>
            <a:off x="508000" y="3810000"/>
            <a:ext cx="11176000" cy="2794000"/>
          </a:xfrm>
          <a:prstGeom prst="roundRect">
            <a:avLst>
              <a:gd name="adj" fmla="val 5454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Lợi ích của Virtual DOM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1. Hiệu năng vượt trội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Giảm thiểu tối đa số lần render của trình duyệt.</a:t>
            </a:r>
          </a:p>
        </p:txBody>
      </p:sp>
      <p:sp>
        <p:nvSpPr>
          <p:cNvPr id="4" name="AutoShape 4"/>
          <p:cNvSpPr/>
          <p:nvPr/>
        </p:nvSpPr>
        <p:spPr>
          <a:xfrm>
            <a:off x="6350000" y="165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2. Tư duy Declarative UI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Bạn chỉ cần mô tả giao diện, React tự lo việc cập nhật.</a:t>
            </a:r>
          </a:p>
        </p:txBody>
      </p:sp>
      <p:sp>
        <p:nvSpPr>
          <p:cNvPr id="5" name="AutoShape 5"/>
          <p:cNvSpPr/>
          <p:nvPr/>
        </p:nvSpPr>
        <p:spPr>
          <a:xfrm>
            <a:off x="508000" y="3937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3. Dễ dàng Testing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Có thể test logic render mà không cần môi trường trình duyệt.</a:t>
            </a:r>
          </a:p>
        </p:txBody>
      </p:sp>
      <p:sp>
        <p:nvSpPr>
          <p:cNvPr id="6" name="AutoShape 6"/>
          <p:cNvSpPr/>
          <p:nvPr/>
        </p:nvSpPr>
        <p:spPr>
          <a:xfrm>
            <a:off x="6350000" y="3937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4. Kiến trúc Component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Module hóa UI giúp quản lý code sạch và dễ scale.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FFF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Mini Quiz: SPA &amp; Virtual DOM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7620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22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2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1. MPA và SPA khác nhau ở điểm cốt lõi nào?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22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2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2. Virtual DOM nằm ở đâu: Memory hay Browser?</a:t>
            </a:r>
          </a:p>
          <a:p>
            <a:pPr indent="0" algn="l">
              <a:lnSpc>
                <a:spcPct val="150000"/>
              </a:lnSpc>
            </a:pPr>
            <a:r>
              <a:rPr lang="en-US" sz="22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2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3. React dùng thuật toán gì để tìm ra điểm thay đổi?</a:t>
            </a:r>
          </a:p>
          <a:p>
            <a:pPr indent="0" algn="l">
              <a:lnSpc>
                <a:spcPct val="150000"/>
              </a:lnSpc>
            </a:pPr>
            <a:r>
              <a:rPr lang="en-US" sz="22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2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4. SPA điều hướng không reload nhờ API nào của JS?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0" y="1905000"/>
            <a:ext cx="2540000" cy="254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Kiến trúc Component-based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Component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là những mảnh ghép UI độc lập, có thể tái sử dụng để xây dựng ứng dụng phức tạp.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2794000"/>
            <a:ext cx="3556000" cy="3048000"/>
          </a:xfrm>
          <a:prstGeom prst="roundRect">
            <a:avLst>
              <a:gd name="adj" fmla="val 41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381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Tái sử dụng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Viết một lần, dùng ở nhiều nơi (Button, Card, Input).</a:t>
            </a:r>
          </a:p>
        </p:txBody>
      </p:sp>
      <p:sp>
        <p:nvSpPr>
          <p:cNvPr id="5" name="AutoShape 5"/>
          <p:cNvSpPr/>
          <p:nvPr/>
        </p:nvSpPr>
        <p:spPr>
          <a:xfrm>
            <a:off x="4318000" y="2794000"/>
            <a:ext cx="3556000" cy="3048000"/>
          </a:xfrm>
          <a:prstGeom prst="roundRect">
            <a:avLst>
              <a:gd name="adj" fmla="val 41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381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Độc lập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Mỗi component tự quản lý UI và logic riêng của nó.</a:t>
            </a:r>
          </a:p>
        </p:txBody>
      </p:sp>
      <p:sp>
        <p:nvSpPr>
          <p:cNvPr id="6" name="AutoShape 6"/>
          <p:cNvSpPr/>
          <p:nvPr/>
        </p:nvSpPr>
        <p:spPr>
          <a:xfrm>
            <a:off x="8128000" y="2794000"/>
            <a:ext cx="3556000" cy="3048000"/>
          </a:xfrm>
          <a:prstGeom prst="roundRect">
            <a:avLst>
              <a:gd name="adj" fmla="val 41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381000" rIns="0" bIns="0" rtlCol="0" anchor="t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Ghép nối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Kết hợp các component nhỏ để tạo thành trang web hoàn chỉnh.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Cây Component (Component Tree)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3646" r="1444"/>
          <a:stretch>
            <a:fillRect/>
          </a:stretch>
        </p:blipFill>
        <p:spPr>
          <a:xfrm>
            <a:off x="-114070" y="1524000"/>
            <a:ext cx="7774506" cy="4572000"/>
          </a:xfrm>
          <a:prstGeom prst="roundRect">
            <a:avLst>
              <a:gd name="adj" fmla="val 3333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381000" dist="190500" dir="2700000" algn="tl" rotWithShape="0">
              <a:srgbClr val="000000">
                <a:alpha val="5000"/>
              </a:srgbClr>
            </a:outerShdw>
          </a:effectLst>
        </p:spPr>
      </p:pic>
      <p:sp>
        <p:nvSpPr>
          <p:cNvPr id="4" name="AutoShape 4"/>
          <p:cNvSpPr/>
          <p:nvPr/>
        </p:nvSpPr>
        <p:spPr>
          <a:xfrm>
            <a:off x="7366000" y="1524000"/>
            <a:ext cx="4318000" cy="457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Phân rã UI (Atomic Design):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0B5FFF"/>
              </a:buClr>
              <a:buChar char="•"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App Root: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Gốc của ứng dụng.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Layouts: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Header, Sidebar, Footer.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Views: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HomePage, ProductList.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Atoms: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Button, Avatar, Label.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Quy tắc: Component cha quản lý Component con.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JSX: JavaScript XML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5334000" cy="4826000"/>
          </a:xfrm>
          <a:prstGeom prst="roundRect">
            <a:avLst>
              <a:gd name="adj" fmla="val 3157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JSX looks like HTML: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const element = (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&lt;h1 className="title"&gt;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Hello, {name}!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&lt;/h1&gt;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);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93C5FD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But it is actually JS!</a:t>
            </a:r>
          </a:p>
        </p:txBody>
      </p:sp>
      <p:sp>
        <p:nvSpPr>
          <p:cNvPr id="4" name="AutoShape 4"/>
          <p:cNvSpPr/>
          <p:nvPr/>
        </p:nvSpPr>
        <p:spPr>
          <a:xfrm>
            <a:off x="6350000" y="1524000"/>
            <a:ext cx="5334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Đặc điểm của JSX: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Cho phép viết cấu trúc UI ngay trong JavaScript.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Declarative: Mô tả "Cái gì" thay vì "Làm thế nào".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An toàn: Ngăn chặn tấn công XSS mặc định.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Power: Tận dụng mọi sức mạnh của JS (map, filter, conditional).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Quy tắc cú pháp JSX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1176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33333"/>
              </a:lnSpc>
              <a:buClr>
                <a:srgbClr val="1F2937"/>
              </a:buClr>
              <a:buChar char="•"/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Single Root Element: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Phải bọc trong 1 thẻ cha (hoặc </a:t>
            </a:r>
            <a:r>
              <a:rPr lang="en-US" sz="18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&lt;&gt;...&lt;/&gt;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lang="en-US" sz="1100"/>
          </a:p>
          <a:p>
            <a:pPr marL="228600" indent="-228600" algn="l">
              <a:lnSpc>
                <a:spcPct val="133333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className thay cho class: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Do class là từ khóa dành riêng trong JS.</a:t>
            </a:r>
          </a:p>
          <a:p>
            <a:pPr marL="228600" indent="-228600" algn="l">
              <a:lnSpc>
                <a:spcPct val="133333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camelCase Event: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8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onClick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18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onChange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(không phải onclick).</a:t>
            </a:r>
          </a:p>
          <a:p>
            <a:pPr marL="228600" indent="-228600" algn="l">
              <a:lnSpc>
                <a:spcPct val="133333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Self-closing Tags: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Mọi thẻ đơn phải có dấu đóng </a:t>
            </a:r>
            <a:r>
              <a:rPr lang="en-US" sz="18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/&gt;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(ví dụ: &lt;img /&gt;, &lt;br /&gt;).</a:t>
            </a:r>
          </a:p>
          <a:p>
            <a:pPr marL="228600" indent="-228600" algn="l">
              <a:lnSpc>
                <a:spcPct val="133333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Ngoặc nhọn { }: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Dùng để chèn biến hoặc biểu thức JavaScript.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FFF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Mini Quiz: Component &amp; JSX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Q1: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Component trong React thực chất là gì?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0" y="165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Q2: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Tại sao JSX cần 1 phần tử gốc duy nhất?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3937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Q3: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Làm thế nào để chèn 1 biến JS vào trong thẻ JSX?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3937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Q4: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Tại sao dùng </a:t>
            </a:r>
            <a:r>
              <a:rPr lang="en-US" sz="18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className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thay vì </a:t>
            </a:r>
            <a:r>
              <a:rPr lang="en-US" sz="18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class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Props: Truyền dữ liệu Cha → Con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270000" y="1905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Parent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5371352">
            <a:off x="1778000" y="3676041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5" name="AutoShape 5"/>
          <p:cNvSpPr/>
          <p:nvPr/>
        </p:nvSpPr>
        <p:spPr>
          <a:xfrm>
            <a:off x="2667000" y="342900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Props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270000" y="4445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Child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080000" y="1905000"/>
            <a:ext cx="60960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Properties (Props):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Là tham số truyền vào component.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Read-Only: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Component con không được sửa props của mình.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Dữ liệu 1 chiều: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Luôn chảy từ trên xuống dưới (One-way data flow).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Destructuring: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Cách viết hiện đại giúp code sạch hơn.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1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Example: &lt;Welcome name="React" /&gt;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Vấn đề: Props Drilling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3810000" cy="4826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31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App (User Data)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 ↓ prop: user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 ↓ prop: user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Header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 ↓ prop: user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UserMenu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 ↓ prop: user</a:t>
            </a:r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Avatar (Sử dụng user)</a:t>
            </a:r>
          </a:p>
        </p:txBody>
      </p:sp>
      <p:sp>
        <p:nvSpPr>
          <p:cNvPr id="5" name="AutoShape 5"/>
          <p:cNvSpPr/>
          <p:nvPr/>
        </p:nvSpPr>
        <p:spPr>
          <a:xfrm>
            <a:off x="4826000" y="1524000"/>
            <a:ext cx="685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Định nghĩa: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Việc truyền props qua các component trung gian không thực sự cần dữ liệu đó.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Hệ quả: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Code rườm rà, khó theo dõi.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Dễ gây lỗi khi refactor code.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Component trung gian bị phụ thuộc không cần thiết.</a:t>
            </a: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Giải pháp: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Component Composition hoặc </a:t>
            </a: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Context API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/ Redux.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State: Trạng thái nội bộ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533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State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là dữ liệu có thể thay đổi theo thời gian hoặc tương tác của người dùng. Khi state đổi, React </a:t>
            </a:r>
            <a:r>
              <a:rPr lang="en-US" sz="20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tự động re-render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UI.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5568" b="25568"/>
          <a:stretch>
            <a:fillRect/>
          </a:stretch>
        </p:blipFill>
        <p:spPr>
          <a:xfrm>
            <a:off x="508000" y="3556000"/>
            <a:ext cx="11176000" cy="3048000"/>
          </a:xfrm>
          <a:prstGeom prst="roundRect">
            <a:avLst>
              <a:gd name="adj" fmla="val 500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350000" y="1524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Tư duy React: UI = f(state)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Giao diện chỉ là kết quả của hàm nhận đầu vào là dữ liệu (State &amp; Props).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Quy tắc: Không Mutate State!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5461000" cy="4445000"/>
          </a:xfrm>
          <a:prstGeom prst="roundRect">
            <a:avLst>
              <a:gd name="adj" fmla="val 3428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F444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❌ SAI (Direct Mutation):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user.age = 25;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setUser(user);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1" u="none" strike="noStrike">
                <a:solidFill>
                  <a:srgbClr val="EF4444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React sẽ không nhận ra sự thay đổi vì cùng vùng nhớ (reference).</a:t>
            </a:r>
          </a:p>
        </p:txBody>
      </p:sp>
      <p:sp>
        <p:nvSpPr>
          <p:cNvPr id="4" name="AutoShape 4"/>
          <p:cNvSpPr/>
          <p:nvPr/>
        </p:nvSpPr>
        <p:spPr>
          <a:xfrm>
            <a:off x="6223000" y="1651000"/>
            <a:ext cx="5461000" cy="4445000"/>
          </a:xfrm>
          <a:prstGeom prst="roundRect">
            <a:avLst>
              <a:gd name="adj" fmla="val 3428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✅ ĐÚNG (Immutable Update):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setUser({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...user,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age: 25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});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1" u="none" strike="noStrike">
                <a:solidFill>
                  <a:srgbClr val="22C55E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Tạo một Object mới -&gt; React trigger re-render ngay lập tức.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FFF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Mini Quiz: Props vs State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1176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1. Dữ liệu nào là Read-only (chỉ đọc) đối với Component con?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20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2. Muốn component tự thay đổi giao diện theo tương tác, ta dùng gì?</a:t>
            </a:r>
          </a:p>
          <a:p>
            <a:pPr indent="0" algn="l">
              <a:lnSpc>
                <a:spcPct val="150000"/>
              </a:lnSpc>
            </a:pPr>
            <a:r>
              <a:rPr lang="en-US" sz="20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3. </a:t>
            </a:r>
            <a:r>
              <a:rPr lang="en-US" sz="20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"Props drilling"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gây hại như thế nào cho dự án?</a:t>
            </a:r>
          </a:p>
          <a:p>
            <a:pPr indent="0" algn="l">
              <a:lnSpc>
                <a:spcPct val="150000"/>
              </a:lnSpc>
            </a:pPr>
            <a:r>
              <a:rPr lang="en-US" sz="20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4. React dựa vào tham chiếu (reference) hay giá trị (value) để re-render object?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React Hooks là gì?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524000" cy="1524000"/>
          </a:xfrm>
          <a:prstGeom prst="roundRect">
            <a:avLst>
              <a:gd name="adj" fmla="val 125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500" y="1714500"/>
            <a:ext cx="1143000" cy="1143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2286000" y="1524000"/>
            <a:ext cx="9398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Hooks cho phép sử dụng state và các tính năng khác của React mà không cần viết class.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2 Quy tắc vàng (Rules of Hooks):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Chỉ gọi ở cấp cao nhất (Top Level):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Không gọi hooks bên trong vòng lặp, điều kiện (if) hay hàm lồng nhau.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Chỉ gọi từ Function Component: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Hoặc từ các Custom Hooks khác.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1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 Tiền tố của hooks luôn bắt đầu bằng chữ "use" (ví dụ: useState).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Chu kỳ useState: Render -&gt; Re-render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t="21496" b="21496"/>
          <a:stretch>
            <a:fillRect/>
          </a:stretch>
        </p:blipFill>
        <p:spPr>
          <a:xfrm>
            <a:off x="508000" y="1651000"/>
            <a:ext cx="11176000" cy="3556000"/>
          </a:xfrm>
          <a:prstGeom prst="roundRect">
            <a:avLst>
              <a:gd name="adj" fmla="val 4285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508000" y="5461000"/>
            <a:ext cx="1117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Hành động (Event) → </a:t>
            </a: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setX()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→ React so sánh VDOM → </a:t>
            </a:r>
            <a:r>
              <a:rPr lang="en-US" sz="1800" b="1" i="0" u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Render UI mới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useEffect: Xử lý Side Effects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7686" r="17686"/>
          <a:stretch>
            <a:fillRect/>
          </a:stretch>
        </p:blipFill>
        <p:spPr>
          <a:xfrm>
            <a:off x="508000" y="1524000"/>
            <a:ext cx="5588000" cy="4826000"/>
          </a:xfrm>
          <a:prstGeom prst="roundRect">
            <a:avLst>
              <a:gd name="adj" fmla="val 315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604000" y="1524000"/>
            <a:ext cx="5080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useEffect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giúp bạn đồng bộ component với các hệ thống bên ngoài.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Các trường hợp sử dụng: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Gọi API lấy dữ liệu.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Thiết lập Subscription (Event Listener).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Tương tác với DOM trực tiếp.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Set/Clear Timer (setInterval, setTimeout).</a:t>
            </a:r>
          </a:p>
          <a:p>
            <a:pPr indent="0" algn="l">
              <a:lnSpc>
                <a:spcPct val="125000"/>
              </a:lnSpc>
            </a:pPr>
            <a:r>
              <a:rPr lang="en-US" sz="18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Dependency array ([ ]) quyết định khi nào effect chạy lại.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Cleanup: Tránh Memory Leak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5461000" cy="4445000"/>
          </a:xfrm>
          <a:prstGeom prst="roundRect">
            <a:avLst>
              <a:gd name="adj" fmla="val 3428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Tại sao cần Cleanup?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Khi component bị </a:t>
            </a:r>
            <a:r>
              <a:rPr lang="en-US" sz="16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unmount</a:t>
            </a: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(biến mất), các tiến trình ngầm (timer, event listener) vẫn có thể đang chạy.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-&gt; Gây lãng phí tài nguyên và lỗi ứng dụng.</a:t>
            </a:r>
          </a:p>
        </p:txBody>
      </p:sp>
      <p:sp>
        <p:nvSpPr>
          <p:cNvPr id="4" name="AutoShape 4"/>
          <p:cNvSpPr/>
          <p:nvPr/>
        </p:nvSpPr>
        <p:spPr>
          <a:xfrm>
            <a:off x="6223000" y="1651000"/>
            <a:ext cx="5461000" cy="4445000"/>
          </a:xfrm>
          <a:prstGeom prst="roundRect">
            <a:avLst>
              <a:gd name="adj" fmla="val 3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Cách thực hiện: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useEffect(() =&gt; {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// ... logic ...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return () =&gt; {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  </a:t>
            </a:r>
            <a:r>
              <a:rPr lang="en-US" sz="1600" b="0" i="0" u="none" strike="noStrike">
                <a:solidFill>
                  <a:srgbClr val="0B5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Dọn dẹp ở đây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 };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}, []);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FFF">
            <a:alpha val="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Mini Quiz: React Hooks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Q1: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Hooks có thể gọi được trong class component không?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350000" y="1651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Q2: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Mảng dependency rỗng </a:t>
            </a: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[ ]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có nghĩa là gì?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3937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Q3: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Hàm cleanup chạy vào thời điểm nào?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0" y="3937000"/>
            <a:ext cx="5334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Q4: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Tại sao không được gọi Hooks trong câu lệnh rẽ nhánh </a:t>
            </a:r>
            <a:r>
              <a:rPr lang="en-US" sz="18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if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?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Conditional Rendering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651000"/>
            <a:ext cx="5334000" cy="2032000"/>
          </a:xfrm>
          <a:prstGeom prst="roundRect">
            <a:avLst>
              <a:gd name="adj" fmla="val 625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1. if statement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Dùng khi có logic phức tạp hoặc trả về toàn bộ slide khác.</a:t>
            </a:r>
          </a:p>
        </p:txBody>
      </p:sp>
      <p:sp>
        <p:nvSpPr>
          <p:cNvPr id="4" name="AutoShape 4"/>
          <p:cNvSpPr/>
          <p:nvPr/>
        </p:nvSpPr>
        <p:spPr>
          <a:xfrm>
            <a:off x="6350000" y="1651000"/>
            <a:ext cx="5334000" cy="2032000"/>
          </a:xfrm>
          <a:prstGeom prst="roundRect">
            <a:avLst>
              <a:gd name="adj" fmla="val 625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2. Ternary (? :)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Dùng trong JSX để chọn giữa 2 lựa chọn (Ví dụ: Login/Logout).</a:t>
            </a:r>
          </a:p>
        </p:txBody>
      </p:sp>
      <p:sp>
        <p:nvSpPr>
          <p:cNvPr id="5" name="AutoShape 5"/>
          <p:cNvSpPr/>
          <p:nvPr/>
        </p:nvSpPr>
        <p:spPr>
          <a:xfrm>
            <a:off x="508000" y="4064000"/>
            <a:ext cx="5334000" cy="2032000"/>
          </a:xfrm>
          <a:prstGeom prst="roundRect">
            <a:avLst>
              <a:gd name="adj" fmla="val 625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3. Logical &amp;&amp;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Dùng khi muốn hiện cái gì đó hoặc không hiện gì cả.</a:t>
            </a:r>
          </a:p>
        </p:txBody>
      </p:sp>
      <p:sp>
        <p:nvSpPr>
          <p:cNvPr id="6" name="AutoShape 6"/>
          <p:cNvSpPr/>
          <p:nvPr/>
        </p:nvSpPr>
        <p:spPr>
          <a:xfrm>
            <a:off x="6350000" y="4064000"/>
            <a:ext cx="5334000" cy="2032000"/>
          </a:xfrm>
          <a:prstGeom prst="roundRect">
            <a:avLst>
              <a:gd name="adj" fmla="val 625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4. Multiple Condition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Dùng biến phụ để lưu JSX trước khi return.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Lists &amp; Keys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117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Sử dụng phương thức </a:t>
            </a: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.map()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để lặp mảng và render ra UI.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3048000"/>
            <a:ext cx="5334000" cy="3048000"/>
          </a:xfrm>
          <a:prstGeom prst="roundRect">
            <a:avLst>
              <a:gd name="adj" fmla="val 5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Tại sao cần Key?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Giúp React định danh phần tử nào đã đổi, thêm, hoặc xóa.</a:t>
            </a:r>
          </a:p>
          <a:p>
            <a:pPr marL="203200" indent="-2032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Tối ưu hiệu năng Virtual DOM (diffing).</a:t>
            </a:r>
          </a:p>
        </p:txBody>
      </p:sp>
      <p:sp>
        <p:nvSpPr>
          <p:cNvPr id="5" name="AutoShape 5"/>
          <p:cNvSpPr/>
          <p:nvPr/>
        </p:nvSpPr>
        <p:spPr>
          <a:xfrm>
            <a:off x="6350000" y="3048000"/>
            <a:ext cx="5334000" cy="3048000"/>
          </a:xfrm>
          <a:prstGeom prst="roundRect">
            <a:avLst>
              <a:gd name="adj" fmla="val 5000"/>
            </a:avLst>
          </a:prstGeom>
          <a:solidFill>
            <a:srgbClr val="F0FD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254000" tIns="25400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2C55E"/>
                </a:solidFill>
                <a:latin typeface="Inter"/>
                <a:ea typeface="Inter"/>
                <a:cs typeface="Inter"/>
                <a:sym typeface="Inter"/>
              </a:rPr>
              <a:t>Lưu ý về Key:</a:t>
            </a:r>
            <a:endParaRPr lang="en-US" sz="1100"/>
          </a:p>
          <a:p>
            <a:pPr marL="203200" indent="-2032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Phải </a:t>
            </a:r>
            <a:r>
              <a:rPr lang="en-US" sz="16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Duy nhất</a:t>
            </a: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trong danh sách đó.</a:t>
            </a:r>
          </a:p>
          <a:p>
            <a:pPr marL="203200" indent="-2032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Phải </a:t>
            </a:r>
            <a:r>
              <a:rPr lang="en-US" sz="16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Ổn định</a:t>
            </a: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(Tránh dùng </a:t>
            </a:r>
            <a:r>
              <a:rPr lang="en-US" sz="1600" b="0" i="1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Math.random()</a:t>
            </a: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</a:p>
          <a:p>
            <a:pPr marL="203200" indent="-203200" algn="l">
              <a:lnSpc>
                <a:spcPct val="125000"/>
              </a:lnSpc>
              <a:buClr>
                <a:srgbClr val="EF4444"/>
              </a:buClr>
              <a:buChar char="•"/>
            </a:pPr>
            <a:r>
              <a:rPr lang="en-US" sz="1600" b="0" i="0" u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Hạn chế</a:t>
            </a:r>
            <a:r>
              <a:rPr lang="en-US" sz="16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dùng Index mảng nếu danh sách có thể thay đổi thứ tự.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Forms: Controlled Components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08000" y="1524000"/>
            <a:ext cx="1117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Trong React, cách tốt nhất để xử lý form là để </a:t>
            </a:r>
            <a:r>
              <a:rPr lang="en-US" sz="20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React State</a:t>
            </a:r>
            <a:r>
              <a:rPr lang="en-US" sz="20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 nắm giữ giá trị của input.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08000" y="3048000"/>
            <a:ext cx="3810000" cy="3048000"/>
          </a:xfrm>
          <a:prstGeom prst="roundRect">
            <a:avLst>
              <a:gd name="adj" fmla="val 41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React State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(Single Source of Truth)</a:t>
            </a:r>
          </a:p>
        </p:txBody>
      </p:sp>
      <p:cxnSp>
        <p:nvCxnSpPr>
          <p:cNvPr id="5" name="Connector 5"/>
          <p:cNvCxnSpPr/>
          <p:nvPr/>
        </p:nvCxnSpPr>
        <p:spPr>
          <a:xfrm rot="-34376">
            <a:off x="4317397" y="4184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B5FFF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6" name="AutoShape 6"/>
          <p:cNvSpPr/>
          <p:nvPr/>
        </p:nvSpPr>
        <p:spPr>
          <a:xfrm>
            <a:off x="4445000" y="38100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Value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10765623">
            <a:off x="4318603" y="4946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8" name="AutoShape 8"/>
          <p:cNvSpPr/>
          <p:nvPr/>
        </p:nvSpPr>
        <p:spPr>
          <a:xfrm>
            <a:off x="4445000" y="50165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onChange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588000" y="3048000"/>
            <a:ext cx="3810000" cy="3048000"/>
          </a:xfrm>
          <a:prstGeom prst="roundRect">
            <a:avLst>
              <a:gd name="adj" fmla="val 41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Input Element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(DOM UI)</a:t>
            </a:r>
          </a:p>
        </p:txBody>
      </p:sp>
      <p:sp>
        <p:nvSpPr>
          <p:cNvPr id="10" name="AutoShape 10"/>
          <p:cNvSpPr/>
          <p:nvPr/>
        </p:nvSpPr>
        <p:spPr>
          <a:xfrm>
            <a:off x="9652000" y="3048000"/>
            <a:ext cx="2032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Lợi ích: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- Dễ validate.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- Dễ filter input.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- Pre-fill dữ liệu.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Routing &amp; Workflow với Vite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 l="17686" r="17686"/>
          <a:stretch>
            <a:fillRect/>
          </a:stretch>
        </p:blipFill>
        <p:spPr>
          <a:xfrm>
            <a:off x="508000" y="1524000"/>
            <a:ext cx="5588000" cy="4826000"/>
          </a:xfrm>
          <a:prstGeom prst="roundRect">
            <a:avLst>
              <a:gd name="adj" fmla="val 3157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4" name="AutoShape 4"/>
          <p:cNvSpPr/>
          <p:nvPr/>
        </p:nvSpPr>
        <p:spPr>
          <a:xfrm>
            <a:off x="6604000" y="1524000"/>
            <a:ext cx="5080000" cy="482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Vite: Tiêu chuẩn mới (2025)</a:t>
            </a:r>
            <a:endParaRPr lang="en-US" sz="1100"/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Khởi động dev server cực nhanh.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Hot Module Replacement (HMR) tức thì.</a:t>
            </a:r>
          </a:p>
          <a:p>
            <a:pPr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Client-side Routing: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Sử dụng </a:t>
            </a: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React Router</a:t>
            </a: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Điều hướng mượt mà không tải lại trang.</a:t>
            </a:r>
          </a:p>
          <a:p>
            <a:pPr marL="228600" indent="-228600" algn="l">
              <a:lnSpc>
                <a:spcPct val="125000"/>
              </a:lnSpc>
              <a:buClr>
                <a:srgbClr val="1F2937"/>
              </a:buClr>
              <a:buChar char="•"/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Cấu trúc URL thân thiện (SEO).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90" r="-39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905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42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Cảm ơn các bạn!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540000" y="3175000"/>
            <a:ext cx="7112000" cy="1905000"/>
          </a:xfrm>
          <a:prstGeom prst="roundRect">
            <a:avLst>
              <a:gd name="adj" fmla="val 800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381000" tIns="381000" rIns="0" bIns="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800" b="1" i="0" u="none" strike="noStrike">
                <a:solidFill>
                  <a:srgbClr val="0B5FFF"/>
                </a:solidFill>
                <a:latin typeface="Inter"/>
                <a:ea typeface="Inter"/>
                <a:cs typeface="Inter"/>
                <a:sym typeface="Inter"/>
              </a:rPr>
              <a:t>Key Takeaways: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1. SPA mindset + Component hóa UI.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2. JSX/Props/State là nền móng của React.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3. Hooks quản lý State và Side Effects hiệu quả.</a:t>
            </a:r>
          </a:p>
        </p:txBody>
      </p:sp>
      <p:sp>
        <p:nvSpPr>
          <p:cNvPr id="4" name="AutoShape 4"/>
          <p:cNvSpPr/>
          <p:nvPr/>
        </p:nvSpPr>
        <p:spPr>
          <a:xfrm>
            <a:off x="0" y="5461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rPr>
              <a:t>Q&amp;A - Hẹn gặp lại trong buổi học tới!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2026</Words>
  <Application>Microsoft Office PowerPoint</Application>
  <PresentationFormat>Widescreen</PresentationFormat>
  <Paragraphs>290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Inter</vt:lpstr>
      <vt:lpstr>Source Code Pro</vt:lpstr>
      <vt:lpstr>Office 主题​​</vt:lpstr>
      <vt:lpstr>默认主题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Hieu Ta Chi</cp:lastModifiedBy>
  <cp:revision>1</cp:revision>
  <dcterms:modified xsi:type="dcterms:W3CDTF">2026-03-13T06:19:51Z</dcterms:modified>
</cp:coreProperties>
</file>